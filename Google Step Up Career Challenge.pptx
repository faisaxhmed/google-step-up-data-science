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Montserrat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regular.fntdata"/><Relationship Id="rId10" Type="http://schemas.openxmlformats.org/officeDocument/2006/relationships/slide" Target="slides/slide5.xml"/><Relationship Id="rId13" Type="http://schemas.openxmlformats.org/officeDocument/2006/relationships/font" Target="fonts/Montserrat-italic.fntdata"/><Relationship Id="rId12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40d44624a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40d44624a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40d44624a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940d44624a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40d44624a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940d44624a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40d44624a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3940d44624a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noFill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012950"/>
            <a:ext cx="8520600" cy="14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no" sz="3700">
                <a:solidFill>
                  <a:srgbClr val="DB4437"/>
                </a:solidFill>
              </a:rPr>
              <a:t>Driving Student Consideration for Google Gemini Pro</a:t>
            </a:r>
            <a:endParaRPr b="1" sz="3700">
              <a:solidFill>
                <a:srgbClr val="DB4437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571750"/>
            <a:ext cx="8520600" cy="10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no" sz="2000">
                <a:solidFill>
                  <a:srgbClr val="434343"/>
                </a:solidFill>
              </a:rPr>
              <a:t>Data-Driven Campaign &amp; Creative Insights</a:t>
            </a:r>
            <a:endParaRPr sz="2000">
              <a:solidFill>
                <a:srgbClr val="434343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no" sz="1900">
                <a:solidFill>
                  <a:srgbClr val="434343"/>
                </a:solidFill>
              </a:rPr>
              <a:t>Target Audience: Students (18–24)</a:t>
            </a:r>
            <a:endParaRPr sz="1900">
              <a:solidFill>
                <a:srgbClr val="434343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rgbClr val="434343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365125" y="4293850"/>
            <a:ext cx="5640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no" sz="1500">
                <a:solidFill>
                  <a:srgbClr val="999999"/>
                </a:solidFill>
              </a:rPr>
              <a:t>Google Step Up Data Science Challenge</a:t>
            </a:r>
            <a:endParaRPr sz="1500">
              <a:solidFill>
                <a:srgbClr val="999999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no" sz="1500">
                <a:solidFill>
                  <a:srgbClr val="999999"/>
                </a:solidFill>
              </a:rPr>
              <a:t>Faisa Ahmed | 2026</a:t>
            </a:r>
            <a:endParaRPr sz="1500"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no" sz="2400">
                <a:solidFill>
                  <a:srgbClr val="DB4437"/>
                </a:solidFill>
              </a:rPr>
              <a:t>Which Campaigns Delivered the Strongest ROI?</a:t>
            </a:r>
            <a:endParaRPr sz="2400">
              <a:solidFill>
                <a:srgbClr val="DB4437"/>
              </a:solidFill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6329925" y="1659750"/>
            <a:ext cx="2716200" cy="1824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no" sz="1200">
                <a:solidFill>
                  <a:schemeClr val="dk1"/>
                </a:solidFill>
              </a:rPr>
              <a:t>•</a:t>
            </a:r>
            <a:r>
              <a:rPr lang="no" sz="1200">
                <a:solidFill>
                  <a:srgbClr val="DB4437"/>
                </a:solidFill>
              </a:rPr>
              <a:t> </a:t>
            </a:r>
            <a:r>
              <a:rPr b="1" lang="no" sz="1200">
                <a:solidFill>
                  <a:srgbClr val="4285F4"/>
                </a:solidFill>
              </a:rPr>
              <a:t>ExamPrep_23</a:t>
            </a:r>
            <a:r>
              <a:rPr lang="no" sz="1200">
                <a:solidFill>
                  <a:schemeClr val="dk1"/>
                </a:solidFill>
              </a:rPr>
              <a:t> (SA, YouTube) achieved the lowest CPLU ($0.0002)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no" sz="1200">
                <a:solidFill>
                  <a:schemeClr val="dk1"/>
                </a:solidFill>
              </a:rPr>
              <a:t>• </a:t>
            </a:r>
            <a:r>
              <a:rPr b="1" lang="no" sz="1200">
                <a:solidFill>
                  <a:srgbClr val="4285F4"/>
                </a:solidFill>
              </a:rPr>
              <a:t>BackToSchool_24 </a:t>
            </a:r>
            <a:r>
              <a:rPr lang="no" sz="1200">
                <a:solidFill>
                  <a:schemeClr val="dk1"/>
                </a:solidFill>
              </a:rPr>
              <a:t>(DE, YouTube) influenced the largest audience (~72.9M)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no" sz="1200">
                <a:solidFill>
                  <a:schemeClr val="dk1"/>
                </a:solidFill>
              </a:rPr>
              <a:t>• </a:t>
            </a:r>
            <a:r>
              <a:rPr b="1" lang="no" sz="1200">
                <a:solidFill>
                  <a:srgbClr val="4285F4"/>
                </a:solidFill>
              </a:rPr>
              <a:t>YouTube</a:t>
            </a:r>
            <a:r>
              <a:rPr lang="no" sz="1200">
                <a:solidFill>
                  <a:schemeClr val="dk1"/>
                </a:solidFill>
              </a:rPr>
              <a:t> consistently delivers the strongest efficiency + scale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-4843" l="0" r="-4843" t="0"/>
          <a:stretch/>
        </p:blipFill>
        <p:spPr>
          <a:xfrm>
            <a:off x="311700" y="1714500"/>
            <a:ext cx="62103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no" sz="2400">
                <a:solidFill>
                  <a:srgbClr val="DB4437"/>
                </a:solidFill>
              </a:rPr>
              <a:t>Which Campaigns Truly Increased Consideration?</a:t>
            </a:r>
            <a:endParaRPr sz="2400">
              <a:solidFill>
                <a:srgbClr val="DB4437"/>
              </a:solidFill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842400" y="1017725"/>
            <a:ext cx="7459200" cy="5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no" sz="1400"/>
              <a:t>Only statistically significant brand lift results (p &lt; 0.05) were included.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0" name="Google Shape;70;p15"/>
          <p:cNvSpPr txBox="1"/>
          <p:nvPr/>
        </p:nvSpPr>
        <p:spPr>
          <a:xfrm>
            <a:off x="842400" y="2234013"/>
            <a:ext cx="3168600" cy="13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 sz="1200">
                <a:solidFill>
                  <a:schemeClr val="dk1"/>
                </a:solidFill>
              </a:rPr>
              <a:t>Across all markets, </a:t>
            </a:r>
            <a:r>
              <a:rPr b="1" lang="no" sz="1200">
                <a:solidFill>
                  <a:srgbClr val="4285F4"/>
                </a:solidFill>
              </a:rPr>
              <a:t>YouTube</a:t>
            </a:r>
            <a:r>
              <a:rPr lang="no" sz="1200">
                <a:solidFill>
                  <a:schemeClr val="dk1"/>
                </a:solidFill>
              </a:rPr>
              <a:t> consistently drove the highest consideration lift (80–103%), significantly outperforming Display.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 sz="1200">
                <a:solidFill>
                  <a:schemeClr val="dk1"/>
                </a:solidFill>
              </a:rPr>
              <a:t>Channel choice is a primary driver of impact.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624588"/>
            <a:ext cx="4000500" cy="290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rPr b="1" lang="no" sz="2490">
                <a:solidFill>
                  <a:srgbClr val="DB4437"/>
                </a:solidFill>
              </a:rPr>
              <a:t>Which Creative Resonates Most with Students (18–24)?</a:t>
            </a:r>
            <a:endParaRPr b="1" sz="2490">
              <a:solidFill>
                <a:srgbClr val="DB4437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90"/>
              <a:buNone/>
            </a:pPr>
            <a:r>
              <a:t/>
            </a:r>
            <a:endParaRPr b="1" sz="989"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400" y="1714425"/>
            <a:ext cx="4714875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5613200" y="1828875"/>
            <a:ext cx="3006000" cy="19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 sz="1200">
                <a:solidFill>
                  <a:schemeClr val="dk1"/>
                </a:solidFill>
              </a:rPr>
              <a:t>• </a:t>
            </a:r>
            <a:r>
              <a:rPr b="1" lang="no" sz="1200">
                <a:solidFill>
                  <a:srgbClr val="4285F4"/>
                </a:solidFill>
              </a:rPr>
              <a:t>“Life Hack”</a:t>
            </a:r>
            <a:r>
              <a:rPr lang="no" sz="1200">
                <a:solidFill>
                  <a:schemeClr val="dk1"/>
                </a:solidFill>
              </a:rPr>
              <a:t> is the highest-performing creative across all markets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 sz="1200">
                <a:solidFill>
                  <a:schemeClr val="dk1"/>
                </a:solidFill>
              </a:rPr>
              <a:t>• Peak lift: </a:t>
            </a:r>
            <a:r>
              <a:rPr b="1" lang="no" sz="1200">
                <a:solidFill>
                  <a:srgbClr val="4285F4"/>
                </a:solidFill>
              </a:rPr>
              <a:t>21.83%</a:t>
            </a:r>
            <a:r>
              <a:rPr lang="no" sz="1200">
                <a:solidFill>
                  <a:schemeClr val="dk1"/>
                </a:solidFill>
              </a:rPr>
              <a:t> (DE, Social)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 sz="1200">
                <a:solidFill>
                  <a:schemeClr val="dk1"/>
                </a:solidFill>
              </a:rPr>
              <a:t>• Strong and consistent performance across </a:t>
            </a:r>
            <a:r>
              <a:rPr b="1" lang="no" sz="1200">
                <a:solidFill>
                  <a:srgbClr val="4285F4"/>
                </a:solidFill>
              </a:rPr>
              <a:t>UK, SA, and EG</a:t>
            </a:r>
            <a:endParaRPr b="1" sz="1200">
              <a:solidFill>
                <a:srgbClr val="4285F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 sz="1200">
                <a:solidFill>
                  <a:schemeClr val="dk1"/>
                </a:solidFill>
              </a:rPr>
              <a:t>• </a:t>
            </a:r>
            <a:r>
              <a:rPr b="1" lang="no" sz="1200">
                <a:solidFill>
                  <a:srgbClr val="4285F4"/>
                </a:solidFill>
              </a:rPr>
              <a:t>Social </a:t>
            </a:r>
            <a:r>
              <a:rPr lang="no" sz="1200">
                <a:solidFill>
                  <a:schemeClr val="dk1"/>
                </a:solidFill>
              </a:rPr>
              <a:t>slightly amplifies lift in DE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/>
        </p:nvSpPr>
        <p:spPr>
          <a:xfrm>
            <a:off x="83088" y="506101"/>
            <a:ext cx="9144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no" sz="2400">
                <a:solidFill>
                  <a:srgbClr val="DB4437"/>
                </a:solidFill>
              </a:rPr>
              <a:t>Recommended Strategy for Gemini Pro Student Campaign</a:t>
            </a:r>
            <a:endParaRPr sz="1100">
              <a:solidFill>
                <a:srgbClr val="DB4437"/>
              </a:solidFill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904850" y="3002775"/>
            <a:ext cx="1952700" cy="11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Montserrat"/>
              <a:buNone/>
            </a:pPr>
            <a:r>
              <a:rPr b="1" lang="no" sz="1100">
                <a:solidFill>
                  <a:srgbClr val="4285F4"/>
                </a:solidFill>
                <a:latin typeface="Montserrat"/>
                <a:ea typeface="Montserrat"/>
                <a:cs typeface="Montserrat"/>
                <a:sym typeface="Montserrat"/>
              </a:rPr>
              <a:t>Prioritise YouTube for Scale </a:t>
            </a:r>
            <a:endParaRPr b="1" sz="1100">
              <a:solidFill>
                <a:srgbClr val="4285F4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Montserrat"/>
              <a:buNone/>
            </a:pPr>
            <a:r>
              <a:rPr lang="no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YouTube consistently reached the largest number of students while keeping costs low, making it the most effective channel to scale</a:t>
            </a:r>
            <a:endParaRPr sz="1100">
              <a:solidFill>
                <a:schemeClr val="dk1"/>
              </a:solidFill>
            </a:endParaRPr>
          </a:p>
        </p:txBody>
      </p:sp>
      <p:grpSp>
        <p:nvGrpSpPr>
          <p:cNvPr id="85" name="Google Shape;85;p17"/>
          <p:cNvGrpSpPr/>
          <p:nvPr/>
        </p:nvGrpSpPr>
        <p:grpSpPr>
          <a:xfrm>
            <a:off x="1038805" y="1142228"/>
            <a:ext cx="7232573" cy="3928586"/>
            <a:chOff x="269322" y="1367512"/>
            <a:chExt cx="9372259" cy="5238115"/>
          </a:xfrm>
        </p:grpSpPr>
        <p:grpSp>
          <p:nvGrpSpPr>
            <p:cNvPr id="86" name="Google Shape;86;p17"/>
            <p:cNvGrpSpPr/>
            <p:nvPr/>
          </p:nvGrpSpPr>
          <p:grpSpPr>
            <a:xfrm>
              <a:off x="269322" y="1367512"/>
              <a:ext cx="2297868" cy="2330647"/>
              <a:chOff x="2319694" y="1641595"/>
              <a:chExt cx="2297868" cy="2330647"/>
            </a:xfrm>
          </p:grpSpPr>
          <p:sp>
            <p:nvSpPr>
              <p:cNvPr id="87" name="Google Shape;87;p17"/>
              <p:cNvSpPr/>
              <p:nvPr/>
            </p:nvSpPr>
            <p:spPr>
              <a:xfrm>
                <a:off x="2853265" y="2830356"/>
                <a:ext cx="1229374" cy="1141886"/>
              </a:xfrm>
              <a:custGeom>
                <a:rect b="b" l="l" r="r" t="t"/>
                <a:pathLst>
                  <a:path extrusionOk="0" h="1141886" w="1229374">
                    <a:moveTo>
                      <a:pt x="614302" y="-22"/>
                    </a:moveTo>
                    <a:lnTo>
                      <a:pt x="1229118" y="333699"/>
                    </a:lnTo>
                    <a:lnTo>
                      <a:pt x="652552" y="1121793"/>
                    </a:lnTo>
                    <a:cubicBezTo>
                      <a:pt x="637689" y="1143058"/>
                      <a:pt x="608398" y="1148252"/>
                      <a:pt x="587143" y="1133388"/>
                    </a:cubicBezTo>
                    <a:cubicBezTo>
                      <a:pt x="582625" y="1130233"/>
                      <a:pt x="578697" y="1126308"/>
                      <a:pt x="575540" y="1121793"/>
                    </a:cubicBezTo>
                    <a:lnTo>
                      <a:pt x="-257" y="334469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17"/>
              <p:cNvSpPr/>
              <p:nvPr/>
            </p:nvSpPr>
            <p:spPr>
              <a:xfrm>
                <a:off x="2853265" y="2830356"/>
                <a:ext cx="1229374" cy="882818"/>
              </a:xfrm>
              <a:custGeom>
                <a:rect b="b" l="l" r="r" t="t"/>
                <a:pathLst>
                  <a:path extrusionOk="0" h="882818" w="1229374">
                    <a:moveTo>
                      <a:pt x="614302" y="-22"/>
                    </a:moveTo>
                    <a:lnTo>
                      <a:pt x="-257" y="333699"/>
                    </a:lnTo>
                    <a:lnTo>
                      <a:pt x="376591" y="847115"/>
                    </a:lnTo>
                    <a:cubicBezTo>
                      <a:pt x="531489" y="894691"/>
                      <a:pt x="697116" y="894691"/>
                      <a:pt x="852014" y="847115"/>
                    </a:cubicBezTo>
                    <a:lnTo>
                      <a:pt x="1229118" y="333699"/>
                    </a:lnTo>
                    <a:close/>
                  </a:path>
                </a:pathLst>
              </a:custGeom>
              <a:solidFill>
                <a:srgbClr val="000000">
                  <a:alpha val="9800"/>
                </a:srgbClr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17"/>
              <p:cNvSpPr/>
              <p:nvPr/>
            </p:nvSpPr>
            <p:spPr>
              <a:xfrm>
                <a:off x="2853265" y="2831126"/>
                <a:ext cx="1229374" cy="830712"/>
              </a:xfrm>
              <a:custGeom>
                <a:rect b="b" l="l" r="r" t="t"/>
                <a:pathLst>
                  <a:path extrusionOk="0" h="830712" w="1229374">
                    <a:moveTo>
                      <a:pt x="-257" y="333699"/>
                    </a:moveTo>
                    <a:lnTo>
                      <a:pt x="324223" y="777034"/>
                    </a:lnTo>
                    <a:cubicBezTo>
                      <a:pt x="511003" y="848576"/>
                      <a:pt x="717602" y="848576"/>
                      <a:pt x="904383" y="777034"/>
                    </a:cubicBezTo>
                    <a:lnTo>
                      <a:pt x="1229118" y="333699"/>
                    </a:lnTo>
                    <a:lnTo>
                      <a:pt x="614302" y="-22"/>
                    </a:lnTo>
                    <a:close/>
                  </a:path>
                </a:pathLst>
              </a:custGeom>
              <a:solidFill>
                <a:srgbClr val="000000">
                  <a:alpha val="9800"/>
                </a:srgbClr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90;p17"/>
              <p:cNvSpPr/>
              <p:nvPr/>
            </p:nvSpPr>
            <p:spPr>
              <a:xfrm rot="-2700000">
                <a:off x="2656209" y="1978109"/>
                <a:ext cx="1624837" cy="1624839"/>
              </a:xfrm>
              <a:custGeom>
                <a:rect b="b" l="l" r="r" t="t"/>
                <a:pathLst>
                  <a:path extrusionOk="0" h="1623936" w="1623934">
                    <a:moveTo>
                      <a:pt x="1623678" y="811946"/>
                    </a:moveTo>
                    <a:cubicBezTo>
                      <a:pt x="1623678" y="1260384"/>
                      <a:pt x="1260148" y="1623914"/>
                      <a:pt x="811710" y="1623914"/>
                    </a:cubicBezTo>
                    <a:cubicBezTo>
                      <a:pt x="363273" y="1623914"/>
                      <a:pt x="-257" y="1260384"/>
                      <a:pt x="-257" y="811946"/>
                    </a:cubicBezTo>
                    <a:cubicBezTo>
                      <a:pt x="-257" y="363508"/>
                      <a:pt x="363273" y="-22"/>
                      <a:pt x="811710" y="-22"/>
                    </a:cubicBezTo>
                    <a:cubicBezTo>
                      <a:pt x="1260148" y="-22"/>
                      <a:pt x="1623678" y="363508"/>
                      <a:pt x="1623678" y="81194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p17"/>
              <p:cNvSpPr/>
              <p:nvPr/>
            </p:nvSpPr>
            <p:spPr>
              <a:xfrm rot="-2700000">
                <a:off x="2841766" y="2163813"/>
                <a:ext cx="1253431" cy="1253433"/>
              </a:xfrm>
              <a:custGeom>
                <a:rect b="b" l="l" r="r" t="t"/>
                <a:pathLst>
                  <a:path extrusionOk="0" h="1252736" w="1252734">
                    <a:moveTo>
                      <a:pt x="1252479" y="626346"/>
                    </a:moveTo>
                    <a:cubicBezTo>
                      <a:pt x="1252479" y="972280"/>
                      <a:pt x="972044" y="1252714"/>
                      <a:pt x="626111" y="1252714"/>
                    </a:cubicBezTo>
                    <a:cubicBezTo>
                      <a:pt x="280178" y="1252714"/>
                      <a:pt x="-256" y="972280"/>
                      <a:pt x="-256" y="626346"/>
                    </a:cubicBezTo>
                    <a:cubicBezTo>
                      <a:pt x="-256" y="280413"/>
                      <a:pt x="280178" y="-22"/>
                      <a:pt x="626111" y="-22"/>
                    </a:cubicBezTo>
                    <a:cubicBezTo>
                      <a:pt x="972044" y="-22"/>
                      <a:pt x="1252479" y="280413"/>
                      <a:pt x="1252479" y="62634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17"/>
              <p:cNvSpPr/>
              <p:nvPr/>
            </p:nvSpPr>
            <p:spPr>
              <a:xfrm rot="-4611959">
                <a:off x="2759448" y="2080554"/>
                <a:ext cx="1419741" cy="1419742"/>
              </a:xfrm>
              <a:custGeom>
                <a:rect b="b" l="l" r="r" t="t"/>
                <a:pathLst>
                  <a:path extrusionOk="0" h="1418055" w="1418054">
                    <a:moveTo>
                      <a:pt x="1417798" y="709006"/>
                    </a:moveTo>
                    <a:cubicBezTo>
                      <a:pt x="1417798" y="1100591"/>
                      <a:pt x="1100356" y="1418034"/>
                      <a:pt x="708771" y="1418034"/>
                    </a:cubicBezTo>
                    <a:cubicBezTo>
                      <a:pt x="317186" y="1418034"/>
                      <a:pt x="-256" y="1100591"/>
                      <a:pt x="-256" y="709006"/>
                    </a:cubicBezTo>
                    <a:cubicBezTo>
                      <a:pt x="-256" y="317421"/>
                      <a:pt x="317187" y="-22"/>
                      <a:pt x="708771" y="-22"/>
                    </a:cubicBezTo>
                    <a:cubicBezTo>
                      <a:pt x="1100356" y="-22"/>
                      <a:pt x="1417798" y="317421"/>
                      <a:pt x="1417798" y="709006"/>
                    </a:cubicBezTo>
                    <a:close/>
                  </a:path>
                </a:pathLst>
              </a:custGeom>
              <a:noFill/>
              <a:ln cap="flat" cmpd="sng" w="19250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3" name="Google Shape;93;p17"/>
            <p:cNvGrpSpPr/>
            <p:nvPr/>
          </p:nvGrpSpPr>
          <p:grpSpPr>
            <a:xfrm>
              <a:off x="4991587" y="1483029"/>
              <a:ext cx="2066456" cy="2216080"/>
              <a:chOff x="5934290" y="1756162"/>
              <a:chExt cx="2066456" cy="2216080"/>
            </a:xfrm>
          </p:grpSpPr>
          <p:sp>
            <p:nvSpPr>
              <p:cNvPr id="94" name="Google Shape;94;p17"/>
              <p:cNvSpPr/>
              <p:nvPr/>
            </p:nvSpPr>
            <p:spPr>
              <a:xfrm>
                <a:off x="6352451" y="2830356"/>
                <a:ext cx="1229373" cy="1141886"/>
              </a:xfrm>
              <a:custGeom>
                <a:rect b="b" l="l" r="r" t="t"/>
                <a:pathLst>
                  <a:path extrusionOk="0" h="1141886" w="1229373">
                    <a:moveTo>
                      <a:pt x="614558" y="-22"/>
                    </a:moveTo>
                    <a:lnTo>
                      <a:pt x="1229117" y="333699"/>
                    </a:lnTo>
                    <a:lnTo>
                      <a:pt x="652551" y="1121793"/>
                    </a:lnTo>
                    <a:cubicBezTo>
                      <a:pt x="637688" y="1143058"/>
                      <a:pt x="608398" y="1148252"/>
                      <a:pt x="587142" y="1133388"/>
                    </a:cubicBezTo>
                    <a:cubicBezTo>
                      <a:pt x="582624" y="1130233"/>
                      <a:pt x="578696" y="1126308"/>
                      <a:pt x="575539" y="1121793"/>
                    </a:cubicBezTo>
                    <a:lnTo>
                      <a:pt x="-257" y="33446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95;p17"/>
              <p:cNvSpPr/>
              <p:nvPr/>
            </p:nvSpPr>
            <p:spPr>
              <a:xfrm>
                <a:off x="6352451" y="2830356"/>
                <a:ext cx="1229373" cy="882818"/>
              </a:xfrm>
              <a:custGeom>
                <a:rect b="b" l="l" r="r" t="t"/>
                <a:pathLst>
                  <a:path extrusionOk="0" h="882818" w="1229373">
                    <a:moveTo>
                      <a:pt x="614558" y="-22"/>
                    </a:moveTo>
                    <a:lnTo>
                      <a:pt x="-257" y="333699"/>
                    </a:lnTo>
                    <a:lnTo>
                      <a:pt x="376847" y="847115"/>
                    </a:lnTo>
                    <a:cubicBezTo>
                      <a:pt x="531745" y="894691"/>
                      <a:pt x="697373" y="894691"/>
                      <a:pt x="852270" y="847115"/>
                    </a:cubicBezTo>
                    <a:lnTo>
                      <a:pt x="1229117" y="333699"/>
                    </a:lnTo>
                    <a:close/>
                  </a:path>
                </a:pathLst>
              </a:custGeom>
              <a:solidFill>
                <a:srgbClr val="000000">
                  <a:alpha val="9800"/>
                </a:srgbClr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17"/>
              <p:cNvSpPr/>
              <p:nvPr/>
            </p:nvSpPr>
            <p:spPr>
              <a:xfrm>
                <a:off x="6352451" y="2831126"/>
                <a:ext cx="1229373" cy="830712"/>
              </a:xfrm>
              <a:custGeom>
                <a:rect b="b" l="l" r="r" t="t"/>
                <a:pathLst>
                  <a:path extrusionOk="0" h="830712" w="1229373">
                    <a:moveTo>
                      <a:pt x="-257" y="333699"/>
                    </a:moveTo>
                    <a:lnTo>
                      <a:pt x="324479" y="777034"/>
                    </a:lnTo>
                    <a:cubicBezTo>
                      <a:pt x="511259" y="848576"/>
                      <a:pt x="717858" y="848576"/>
                      <a:pt x="904639" y="777034"/>
                    </a:cubicBezTo>
                    <a:lnTo>
                      <a:pt x="1229117" y="333699"/>
                    </a:lnTo>
                    <a:lnTo>
                      <a:pt x="614558" y="-22"/>
                    </a:lnTo>
                    <a:close/>
                  </a:path>
                </a:pathLst>
              </a:custGeom>
              <a:solidFill>
                <a:srgbClr val="000000">
                  <a:alpha val="9800"/>
                </a:srgbClr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7;p17"/>
              <p:cNvSpPr/>
              <p:nvPr/>
            </p:nvSpPr>
            <p:spPr>
              <a:xfrm rot="-1146859">
                <a:off x="6155437" y="1977309"/>
                <a:ext cx="1624162" cy="1624163"/>
              </a:xfrm>
              <a:custGeom>
                <a:rect b="b" l="l" r="r" t="t"/>
                <a:pathLst>
                  <a:path extrusionOk="0" h="1623935" w="1623934">
                    <a:moveTo>
                      <a:pt x="1623678" y="811946"/>
                    </a:moveTo>
                    <a:cubicBezTo>
                      <a:pt x="1623678" y="1260383"/>
                      <a:pt x="1260148" y="1623914"/>
                      <a:pt x="811710" y="1623914"/>
                    </a:cubicBezTo>
                    <a:cubicBezTo>
                      <a:pt x="363273" y="1623914"/>
                      <a:pt x="-257" y="1260383"/>
                      <a:pt x="-257" y="811946"/>
                    </a:cubicBezTo>
                    <a:cubicBezTo>
                      <a:pt x="-257" y="363508"/>
                      <a:pt x="363273" y="-22"/>
                      <a:pt x="811710" y="-22"/>
                    </a:cubicBezTo>
                    <a:cubicBezTo>
                      <a:pt x="1260148" y="-22"/>
                      <a:pt x="1623678" y="363508"/>
                      <a:pt x="1623678" y="81194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17"/>
              <p:cNvSpPr/>
              <p:nvPr/>
            </p:nvSpPr>
            <p:spPr>
              <a:xfrm rot="-4593265">
                <a:off x="6341861" y="2164743"/>
                <a:ext cx="1252617" cy="1252618"/>
              </a:xfrm>
              <a:custGeom>
                <a:rect b="b" l="l" r="r" t="t"/>
                <a:pathLst>
                  <a:path extrusionOk="0" h="1252735" w="1252734">
                    <a:moveTo>
                      <a:pt x="1252477" y="626346"/>
                    </a:moveTo>
                    <a:cubicBezTo>
                      <a:pt x="1252477" y="972279"/>
                      <a:pt x="972043" y="1252713"/>
                      <a:pt x="626110" y="1252713"/>
                    </a:cubicBezTo>
                    <a:cubicBezTo>
                      <a:pt x="280178" y="1252713"/>
                      <a:pt x="-257" y="972279"/>
                      <a:pt x="-257" y="626346"/>
                    </a:cubicBezTo>
                    <a:cubicBezTo>
                      <a:pt x="-257" y="280412"/>
                      <a:pt x="280178" y="-22"/>
                      <a:pt x="626110" y="-22"/>
                    </a:cubicBezTo>
                    <a:cubicBezTo>
                      <a:pt x="972043" y="-22"/>
                      <a:pt x="1252477" y="280412"/>
                      <a:pt x="1252477" y="62634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99;p17"/>
              <p:cNvSpPr/>
              <p:nvPr/>
            </p:nvSpPr>
            <p:spPr>
              <a:xfrm rot="-1328803">
                <a:off x="6258763" y="2079517"/>
                <a:ext cx="1420011" cy="1420012"/>
              </a:xfrm>
              <a:custGeom>
                <a:rect b="b" l="l" r="r" t="t"/>
                <a:pathLst>
                  <a:path extrusionOk="0" h="1418055" w="1418054">
                    <a:moveTo>
                      <a:pt x="1417798" y="709006"/>
                    </a:moveTo>
                    <a:cubicBezTo>
                      <a:pt x="1417798" y="1100591"/>
                      <a:pt x="1100355" y="1418034"/>
                      <a:pt x="708771" y="1418034"/>
                    </a:cubicBezTo>
                    <a:cubicBezTo>
                      <a:pt x="317185" y="1418034"/>
                      <a:pt x="-257" y="1100591"/>
                      <a:pt x="-257" y="709006"/>
                    </a:cubicBezTo>
                    <a:cubicBezTo>
                      <a:pt x="-257" y="317421"/>
                      <a:pt x="317186" y="-22"/>
                      <a:pt x="708771" y="-22"/>
                    </a:cubicBezTo>
                    <a:cubicBezTo>
                      <a:pt x="1100356" y="-22"/>
                      <a:pt x="1417798" y="317421"/>
                      <a:pt x="1417798" y="709006"/>
                    </a:cubicBezTo>
                    <a:close/>
                  </a:path>
                </a:pathLst>
              </a:custGeom>
              <a:noFill/>
              <a:ln cap="flat" cmpd="sng" w="19250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0" name="Google Shape;100;p17"/>
            <p:cNvSpPr txBox="1"/>
            <p:nvPr/>
          </p:nvSpPr>
          <p:spPr>
            <a:xfrm>
              <a:off x="4865217" y="3809448"/>
              <a:ext cx="2318700" cy="187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100"/>
                <a:buFont typeface="Montserrat"/>
                <a:buNone/>
              </a:pPr>
              <a:r>
                <a:rPr b="1" lang="no" sz="1100">
                  <a:solidFill>
                    <a:srgbClr val="4285F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Lead with the “Life Hack” Creative Them</a:t>
              </a:r>
              <a:r>
                <a:rPr b="1" lang="no" sz="110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</a:t>
              </a:r>
              <a:endParaRPr b="1" sz="1100"/>
            </a:p>
            <a:p>
              <a:pPr indent="0" lvl="0" marL="0" marR="0" rtl="0" algn="ctr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595959"/>
                </a:buClr>
                <a:buSzPts val="900"/>
                <a:buFont typeface="Montserrat"/>
                <a:buNone/>
              </a:pPr>
              <a:r>
                <a:rPr lang="no" sz="9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“Life Hack” ad generated the biggest increase in student consideration across multiple countries, making it the most persuasive creative concept</a:t>
              </a:r>
              <a:r>
                <a:rPr lang="no" sz="90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.</a:t>
              </a:r>
              <a:endParaRPr sz="1100"/>
            </a:p>
          </p:txBody>
        </p:sp>
        <p:grpSp>
          <p:nvGrpSpPr>
            <p:cNvPr id="101" name="Google Shape;101;p17"/>
            <p:cNvGrpSpPr/>
            <p:nvPr/>
          </p:nvGrpSpPr>
          <p:grpSpPr>
            <a:xfrm>
              <a:off x="2790563" y="2675649"/>
              <a:ext cx="1859405" cy="2113936"/>
              <a:chOff x="4287476" y="2758776"/>
              <a:chExt cx="1859405" cy="2113936"/>
            </a:xfrm>
          </p:grpSpPr>
          <p:sp>
            <p:nvSpPr>
              <p:cNvPr id="102" name="Google Shape;102;p17"/>
              <p:cNvSpPr/>
              <p:nvPr/>
            </p:nvSpPr>
            <p:spPr>
              <a:xfrm>
                <a:off x="4601703" y="3729348"/>
                <a:ext cx="1231941" cy="1143364"/>
              </a:xfrm>
              <a:custGeom>
                <a:rect b="b" l="l" r="r" t="t"/>
                <a:pathLst>
                  <a:path extrusionOk="0" h="1143364" w="1231941">
                    <a:moveTo>
                      <a:pt x="615585" y="-22"/>
                    </a:moveTo>
                    <a:lnTo>
                      <a:pt x="1231684" y="333699"/>
                    </a:lnTo>
                    <a:lnTo>
                      <a:pt x="653578" y="1123076"/>
                    </a:lnTo>
                    <a:cubicBezTo>
                      <a:pt x="638972" y="1144332"/>
                      <a:pt x="609887" y="1149748"/>
                      <a:pt x="588606" y="1135116"/>
                    </a:cubicBezTo>
                    <a:cubicBezTo>
                      <a:pt x="583882" y="1131881"/>
                      <a:pt x="579801" y="1127800"/>
                      <a:pt x="576566" y="1123076"/>
                    </a:cubicBezTo>
                    <a:lnTo>
                      <a:pt x="-257" y="335752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03;p17"/>
              <p:cNvSpPr/>
              <p:nvPr/>
            </p:nvSpPr>
            <p:spPr>
              <a:xfrm>
                <a:off x="4602730" y="3729348"/>
                <a:ext cx="1229630" cy="882562"/>
              </a:xfrm>
              <a:custGeom>
                <a:rect b="b" l="l" r="r" t="t"/>
                <a:pathLst>
                  <a:path extrusionOk="0" h="882562" w="1229630">
                    <a:moveTo>
                      <a:pt x="614558" y="-22"/>
                    </a:moveTo>
                    <a:lnTo>
                      <a:pt x="-257" y="333699"/>
                    </a:lnTo>
                    <a:lnTo>
                      <a:pt x="376847" y="847115"/>
                    </a:lnTo>
                    <a:cubicBezTo>
                      <a:pt x="531796" y="894349"/>
                      <a:pt x="697321" y="894349"/>
                      <a:pt x="852270" y="847115"/>
                    </a:cubicBezTo>
                    <a:lnTo>
                      <a:pt x="1229374" y="333699"/>
                    </a:lnTo>
                    <a:close/>
                  </a:path>
                </a:pathLst>
              </a:custGeom>
              <a:solidFill>
                <a:srgbClr val="000000">
                  <a:alpha val="9800"/>
                </a:srgbClr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17"/>
              <p:cNvSpPr/>
              <p:nvPr/>
            </p:nvSpPr>
            <p:spPr>
              <a:xfrm>
                <a:off x="4602730" y="3730118"/>
                <a:ext cx="1229630" cy="830713"/>
              </a:xfrm>
              <a:custGeom>
                <a:rect b="b" l="l" r="r" t="t"/>
                <a:pathLst>
                  <a:path extrusionOk="0" h="830713" w="1229630">
                    <a:moveTo>
                      <a:pt x="-257" y="333699"/>
                    </a:moveTo>
                    <a:lnTo>
                      <a:pt x="324479" y="777034"/>
                    </a:lnTo>
                    <a:cubicBezTo>
                      <a:pt x="511259" y="848578"/>
                      <a:pt x="717858" y="848578"/>
                      <a:pt x="904639" y="777034"/>
                    </a:cubicBezTo>
                    <a:lnTo>
                      <a:pt x="1229374" y="333699"/>
                    </a:lnTo>
                    <a:lnTo>
                      <a:pt x="613275" y="-22"/>
                    </a:lnTo>
                    <a:close/>
                  </a:path>
                </a:pathLst>
              </a:custGeom>
              <a:solidFill>
                <a:srgbClr val="000000">
                  <a:alpha val="9800"/>
                </a:srgbClr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17"/>
              <p:cNvSpPr/>
              <p:nvPr/>
            </p:nvSpPr>
            <p:spPr>
              <a:xfrm rot="-4856281">
                <a:off x="4405226" y="2876526"/>
                <a:ext cx="1623904" cy="1623905"/>
              </a:xfrm>
              <a:custGeom>
                <a:rect b="b" l="l" r="r" t="t"/>
                <a:pathLst>
                  <a:path extrusionOk="0" h="1623935" w="1623934">
                    <a:moveTo>
                      <a:pt x="1623678" y="811946"/>
                    </a:moveTo>
                    <a:cubicBezTo>
                      <a:pt x="1623678" y="1260383"/>
                      <a:pt x="1260148" y="1623914"/>
                      <a:pt x="811710" y="1623914"/>
                    </a:cubicBezTo>
                    <a:cubicBezTo>
                      <a:pt x="363273" y="1623914"/>
                      <a:pt x="-257" y="1260383"/>
                      <a:pt x="-257" y="811946"/>
                    </a:cubicBezTo>
                    <a:cubicBezTo>
                      <a:pt x="-257" y="363508"/>
                      <a:pt x="363273" y="-22"/>
                      <a:pt x="811710" y="-22"/>
                    </a:cubicBezTo>
                    <a:cubicBezTo>
                      <a:pt x="1260148" y="-22"/>
                      <a:pt x="1623678" y="363508"/>
                      <a:pt x="1623678" y="81194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06;p17"/>
              <p:cNvSpPr/>
              <p:nvPr/>
            </p:nvSpPr>
            <p:spPr>
              <a:xfrm>
                <a:off x="4591178" y="3063190"/>
                <a:ext cx="1252734" cy="1252735"/>
              </a:xfrm>
              <a:custGeom>
                <a:rect b="b" l="l" r="r" t="t"/>
                <a:pathLst>
                  <a:path extrusionOk="0" h="1252735" w="1252734">
                    <a:moveTo>
                      <a:pt x="1252735" y="626368"/>
                    </a:moveTo>
                    <a:cubicBezTo>
                      <a:pt x="1252735" y="972301"/>
                      <a:pt x="972300" y="1252736"/>
                      <a:pt x="626367" y="1252736"/>
                    </a:cubicBezTo>
                    <a:cubicBezTo>
                      <a:pt x="280434" y="1252736"/>
                      <a:pt x="0" y="972301"/>
                      <a:pt x="0" y="626368"/>
                    </a:cubicBezTo>
                    <a:cubicBezTo>
                      <a:pt x="0" y="280435"/>
                      <a:pt x="280434" y="0"/>
                      <a:pt x="626367" y="0"/>
                    </a:cubicBezTo>
                    <a:cubicBezTo>
                      <a:pt x="972300" y="0"/>
                      <a:pt x="1252735" y="280434"/>
                      <a:pt x="1252735" y="62636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07;p17"/>
              <p:cNvSpPr/>
              <p:nvPr/>
            </p:nvSpPr>
            <p:spPr>
              <a:xfrm rot="-1258544">
                <a:off x="4508072" y="2981055"/>
                <a:ext cx="1416183" cy="1416184"/>
              </a:xfrm>
              <a:custGeom>
                <a:rect b="b" l="l" r="r" t="t"/>
                <a:pathLst>
                  <a:path extrusionOk="0" h="1418055" w="1418054">
                    <a:moveTo>
                      <a:pt x="1417797" y="709006"/>
                    </a:moveTo>
                    <a:cubicBezTo>
                      <a:pt x="1417797" y="1100591"/>
                      <a:pt x="1100355" y="1418033"/>
                      <a:pt x="708770" y="1418033"/>
                    </a:cubicBezTo>
                    <a:cubicBezTo>
                      <a:pt x="317185" y="1418033"/>
                      <a:pt x="-257" y="1100591"/>
                      <a:pt x="-257" y="709006"/>
                    </a:cubicBezTo>
                    <a:cubicBezTo>
                      <a:pt x="-257" y="317420"/>
                      <a:pt x="317186" y="-22"/>
                      <a:pt x="708770" y="-22"/>
                    </a:cubicBezTo>
                    <a:cubicBezTo>
                      <a:pt x="1100356" y="-22"/>
                      <a:pt x="1417797" y="317420"/>
                      <a:pt x="1417797" y="709006"/>
                    </a:cubicBezTo>
                    <a:close/>
                  </a:path>
                </a:pathLst>
              </a:custGeom>
              <a:noFill/>
              <a:ln cap="flat" cmpd="sng" w="19250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8" name="Google Shape;108;p17"/>
            <p:cNvSpPr txBox="1"/>
            <p:nvPr/>
          </p:nvSpPr>
          <p:spPr>
            <a:xfrm>
              <a:off x="2561753" y="4878227"/>
              <a:ext cx="2318700" cy="168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100"/>
                <a:buFont typeface="Montserrat"/>
                <a:buNone/>
              </a:pPr>
              <a:r>
                <a:rPr b="1" lang="no" sz="1100">
                  <a:solidFill>
                    <a:srgbClr val="4285F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Prioritise Germany and the UK</a:t>
              </a:r>
              <a:endParaRPr b="1" sz="1100">
                <a:solidFill>
                  <a:srgbClr val="4285F4"/>
                </a:solidFill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595959"/>
                </a:buClr>
                <a:buSzPts val="900"/>
                <a:buFont typeface="Montserrat"/>
                <a:buNone/>
              </a:pPr>
              <a:r>
                <a:rPr lang="no" sz="9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Campaigns in these markets showed the strongest increase in student interest, meaning our messaging resonates particularly well there.</a:t>
              </a:r>
              <a:endParaRPr sz="1100">
                <a:solidFill>
                  <a:schemeClr val="dk1"/>
                </a:solidFill>
              </a:endParaRPr>
            </a:p>
          </p:txBody>
        </p:sp>
        <p:grpSp>
          <p:nvGrpSpPr>
            <p:cNvPr id="109" name="Google Shape;109;p17"/>
            <p:cNvGrpSpPr/>
            <p:nvPr/>
          </p:nvGrpSpPr>
          <p:grpSpPr>
            <a:xfrm>
              <a:off x="7256904" y="2457510"/>
              <a:ext cx="2297868" cy="2331913"/>
              <a:chOff x="7568474" y="2540606"/>
              <a:chExt cx="2297868" cy="2331913"/>
            </a:xfrm>
          </p:grpSpPr>
          <p:sp>
            <p:nvSpPr>
              <p:cNvPr id="110" name="Google Shape;110;p17"/>
              <p:cNvSpPr/>
              <p:nvPr/>
            </p:nvSpPr>
            <p:spPr>
              <a:xfrm>
                <a:off x="8101401" y="3729348"/>
                <a:ext cx="1231428" cy="1143171"/>
              </a:xfrm>
              <a:custGeom>
                <a:rect b="b" l="l" r="r" t="t"/>
                <a:pathLst>
                  <a:path extrusionOk="0" h="1143171" w="1231428">
                    <a:moveTo>
                      <a:pt x="615072" y="-22"/>
                    </a:moveTo>
                    <a:lnTo>
                      <a:pt x="1231172" y="333699"/>
                    </a:lnTo>
                    <a:lnTo>
                      <a:pt x="653322" y="1123076"/>
                    </a:lnTo>
                    <a:cubicBezTo>
                      <a:pt x="638459" y="1144332"/>
                      <a:pt x="609168" y="1149543"/>
                      <a:pt x="587913" y="1134679"/>
                    </a:cubicBezTo>
                    <a:cubicBezTo>
                      <a:pt x="583395" y="1131522"/>
                      <a:pt x="579467" y="1127594"/>
                      <a:pt x="576310" y="1123076"/>
                    </a:cubicBezTo>
                    <a:lnTo>
                      <a:pt x="-257" y="33575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111;p17"/>
              <p:cNvSpPr/>
              <p:nvPr/>
            </p:nvSpPr>
            <p:spPr>
              <a:xfrm>
                <a:off x="8102171" y="3729348"/>
                <a:ext cx="1229373" cy="882562"/>
              </a:xfrm>
              <a:custGeom>
                <a:rect b="b" l="l" r="r" t="t"/>
                <a:pathLst>
                  <a:path extrusionOk="0" h="882562" w="1229373">
                    <a:moveTo>
                      <a:pt x="614302" y="-22"/>
                    </a:moveTo>
                    <a:lnTo>
                      <a:pt x="-257" y="333699"/>
                    </a:lnTo>
                    <a:lnTo>
                      <a:pt x="376591" y="847115"/>
                    </a:lnTo>
                    <a:cubicBezTo>
                      <a:pt x="531540" y="894349"/>
                      <a:pt x="697065" y="894349"/>
                      <a:pt x="852014" y="847115"/>
                    </a:cubicBezTo>
                    <a:lnTo>
                      <a:pt x="1229117" y="333699"/>
                    </a:lnTo>
                    <a:close/>
                  </a:path>
                </a:pathLst>
              </a:custGeom>
              <a:solidFill>
                <a:srgbClr val="000000">
                  <a:alpha val="9800"/>
                </a:srgbClr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7"/>
              <p:cNvSpPr/>
              <p:nvPr/>
            </p:nvSpPr>
            <p:spPr>
              <a:xfrm>
                <a:off x="8102171" y="3730118"/>
                <a:ext cx="1229373" cy="830694"/>
              </a:xfrm>
              <a:custGeom>
                <a:rect b="b" l="l" r="r" t="t"/>
                <a:pathLst>
                  <a:path extrusionOk="0" h="830694" w="1229373">
                    <a:moveTo>
                      <a:pt x="-257" y="333699"/>
                    </a:moveTo>
                    <a:lnTo>
                      <a:pt x="324479" y="777034"/>
                    </a:lnTo>
                    <a:cubicBezTo>
                      <a:pt x="511158" y="848552"/>
                      <a:pt x="717704" y="848552"/>
                      <a:pt x="904383" y="777034"/>
                    </a:cubicBezTo>
                    <a:lnTo>
                      <a:pt x="1229117" y="333699"/>
                    </a:lnTo>
                    <a:lnTo>
                      <a:pt x="613019" y="-22"/>
                    </a:lnTo>
                    <a:close/>
                  </a:path>
                </a:pathLst>
              </a:custGeom>
              <a:solidFill>
                <a:srgbClr val="000000">
                  <a:alpha val="9800"/>
                </a:srgbClr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" name="Google Shape;113;p17"/>
              <p:cNvSpPr/>
              <p:nvPr/>
            </p:nvSpPr>
            <p:spPr>
              <a:xfrm rot="-2700000">
                <a:off x="7904989" y="2877120"/>
                <a:ext cx="1624837" cy="1624839"/>
              </a:xfrm>
              <a:custGeom>
                <a:rect b="b" l="l" r="r" t="t"/>
                <a:pathLst>
                  <a:path extrusionOk="0" h="1623936" w="1623934">
                    <a:moveTo>
                      <a:pt x="1623679" y="811946"/>
                    </a:moveTo>
                    <a:cubicBezTo>
                      <a:pt x="1623679" y="1260384"/>
                      <a:pt x="1260149" y="1623914"/>
                      <a:pt x="811711" y="1623914"/>
                    </a:cubicBezTo>
                    <a:cubicBezTo>
                      <a:pt x="363274" y="1623914"/>
                      <a:pt x="-256" y="1260384"/>
                      <a:pt x="-256" y="811946"/>
                    </a:cubicBezTo>
                    <a:cubicBezTo>
                      <a:pt x="-256" y="363508"/>
                      <a:pt x="363274" y="-22"/>
                      <a:pt x="811711" y="-22"/>
                    </a:cubicBezTo>
                    <a:cubicBezTo>
                      <a:pt x="1260149" y="-22"/>
                      <a:pt x="1623679" y="363508"/>
                      <a:pt x="1623679" y="81194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17"/>
              <p:cNvSpPr/>
              <p:nvPr/>
            </p:nvSpPr>
            <p:spPr>
              <a:xfrm>
                <a:off x="8090620" y="3063190"/>
                <a:ext cx="1252734" cy="1252735"/>
              </a:xfrm>
              <a:custGeom>
                <a:rect b="b" l="l" r="r" t="t"/>
                <a:pathLst>
                  <a:path extrusionOk="0" h="1252735" w="1252734">
                    <a:moveTo>
                      <a:pt x="1252735" y="626368"/>
                    </a:moveTo>
                    <a:cubicBezTo>
                      <a:pt x="1252735" y="972301"/>
                      <a:pt x="972300" y="1252736"/>
                      <a:pt x="626367" y="1252736"/>
                    </a:cubicBezTo>
                    <a:cubicBezTo>
                      <a:pt x="280434" y="1252736"/>
                      <a:pt x="0" y="972301"/>
                      <a:pt x="0" y="626368"/>
                    </a:cubicBezTo>
                    <a:cubicBezTo>
                      <a:pt x="0" y="280435"/>
                      <a:pt x="280435" y="0"/>
                      <a:pt x="626367" y="0"/>
                    </a:cubicBezTo>
                    <a:cubicBezTo>
                      <a:pt x="972301" y="0"/>
                      <a:pt x="1252735" y="280434"/>
                      <a:pt x="1252735" y="62636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17"/>
              <p:cNvSpPr/>
              <p:nvPr/>
            </p:nvSpPr>
            <p:spPr>
              <a:xfrm rot="-1340003">
                <a:off x="8008020" y="2980285"/>
                <a:ext cx="1418072" cy="1418074"/>
              </a:xfrm>
              <a:custGeom>
                <a:rect b="b" l="l" r="r" t="t"/>
                <a:pathLst>
                  <a:path extrusionOk="0" h="1418056" w="1418054">
                    <a:moveTo>
                      <a:pt x="1417799" y="709006"/>
                    </a:moveTo>
                    <a:cubicBezTo>
                      <a:pt x="1417799" y="1100591"/>
                      <a:pt x="1100356" y="1418034"/>
                      <a:pt x="708771" y="1418034"/>
                    </a:cubicBezTo>
                    <a:cubicBezTo>
                      <a:pt x="317186" y="1418034"/>
                      <a:pt x="-256" y="1100591"/>
                      <a:pt x="-256" y="709006"/>
                    </a:cubicBezTo>
                    <a:cubicBezTo>
                      <a:pt x="-256" y="317421"/>
                      <a:pt x="317187" y="-22"/>
                      <a:pt x="708771" y="-22"/>
                    </a:cubicBezTo>
                    <a:cubicBezTo>
                      <a:pt x="1100357" y="-22"/>
                      <a:pt x="1417799" y="317421"/>
                      <a:pt x="1417799" y="709006"/>
                    </a:cubicBezTo>
                    <a:close/>
                  </a:path>
                </a:pathLst>
              </a:custGeom>
              <a:noFill/>
              <a:ln cap="flat" cmpd="sng" w="19250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6" name="Google Shape;116;p17"/>
            <p:cNvSpPr txBox="1"/>
            <p:nvPr/>
          </p:nvSpPr>
          <p:spPr>
            <a:xfrm>
              <a:off x="7168681" y="4878227"/>
              <a:ext cx="2472900" cy="172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100"/>
                <a:buFont typeface="Montserrat"/>
                <a:buNone/>
              </a:pPr>
              <a:r>
                <a:rPr b="1" lang="no" sz="1100">
                  <a:solidFill>
                    <a:srgbClr val="4285F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Invest More in the Most Cost-Efficient Campaigns</a:t>
              </a:r>
              <a:endParaRPr sz="1100">
                <a:solidFill>
                  <a:srgbClr val="4285F4"/>
                </a:solidFill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595959"/>
                </a:buClr>
                <a:buSzPts val="900"/>
                <a:buFont typeface="Montserrat"/>
                <a:buNone/>
              </a:pPr>
              <a:r>
                <a:rPr lang="no" sz="9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Redirecting budget toward campaigns that influence students at the lowest cost will maximise overall impact without increasing spend.</a:t>
              </a:r>
              <a:endParaRPr sz="1100">
                <a:solidFill>
                  <a:schemeClr val="dk1"/>
                </a:solidFill>
              </a:endParaRPr>
            </a:p>
          </p:txBody>
        </p:sp>
        <p:pic>
          <p:nvPicPr>
            <p:cNvPr descr="Trading Icons &amp; Symbols" id="117" name="Google Shape;117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103391" y="3304717"/>
              <a:ext cx="603504" cy="6035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ersonalization Icons - Free SVG &amp; PNG Personalization Images - Noun Project" id="118" name="Google Shape;118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54429" y="3244688"/>
              <a:ext cx="723564" cy="72356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File:YouTube play button icon (2013–2017).svg - Wikimedia Commons" id="119" name="Google Shape;11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92475" y="1774413"/>
            <a:ext cx="674630" cy="475399"/>
          </a:xfrm>
          <a:prstGeom prst="rect">
            <a:avLst/>
          </a:prstGeom>
          <a:noFill/>
          <a:ln cap="flat" cmpd="sng" w="192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descr="handshake icon vector. Isolated contour symbol illustration (fra Getty Images)" id="120" name="Google Shape;120;p17"/>
          <p:cNvPicPr preferRelativeResize="0"/>
          <p:nvPr/>
        </p:nvPicPr>
        <p:blipFill rotWithShape="1">
          <a:blip r:embed="rId6">
            <a:alphaModFix/>
          </a:blip>
          <a:srcRect b="23721" l="0" r="0" t="26766"/>
          <a:stretch/>
        </p:blipFill>
        <p:spPr>
          <a:xfrm>
            <a:off x="5139650" y="1834713"/>
            <a:ext cx="716575" cy="354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